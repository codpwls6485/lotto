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7" r:id="rId2"/>
    <p:sldId id="256" r:id="rId3"/>
    <p:sldId id="258" r:id="rId4"/>
    <p:sldId id="259" r:id="rId5"/>
    <p:sldId id="264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FFB3A-3B79-6578-B8A4-5E031D7CAB9D}" v="644" dt="2021-08-25T06:31:27.095"/>
    <p1510:client id="{7DF34DAF-7A62-4609-82FC-F83E919B561B}" v="6" dt="2021-08-25T06:36:05.788"/>
    <p1510:client id="{BCE2A208-D24A-C27E-BA3A-64108968A7D5}" v="481" dt="2021-08-25T06:10:39.977"/>
    <p1510:client id="{F661B986-9B8A-4CCD-890A-0FF5BE3C5A4C}" v="943" dt="2021-08-25T05:50:38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37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5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3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4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5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2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54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82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49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28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412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457200" rtl="0" eaLnBrk="1" latinLnBrk="0" hangingPunct="1">
        <a:lnSpc>
          <a:spcPct val="105000"/>
        </a:lnSpc>
        <a:spcBef>
          <a:spcPct val="0"/>
        </a:spcBef>
        <a:buNone/>
        <a:defRPr sz="3400" b="1" kern="1200" cap="none" spc="1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 spc="1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 spc="1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 spc="1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 spc="1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 spc="1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55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3" name="Rectangle 57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5" name="Rectangle 59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7" name="Rectangle 61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4FC9EA7-E9A1-4D45-9409-F05E8607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0" y="1373459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altLang="ko-KR" sz="6600" b="0" cap="all" dirty="0">
                <a:ea typeface="휴먼매직체"/>
              </a:rPr>
              <a:t>Lotto</a:t>
            </a:r>
            <a:br>
              <a:rPr lang="en-US" altLang="ko-KR" sz="6600" b="0" cap="all" dirty="0">
                <a:ea typeface="휴먼매직체"/>
              </a:rPr>
            </a:br>
            <a:r>
              <a:rPr lang="en-US" altLang="ko-KR" sz="6600" b="0" cap="all" dirty="0">
                <a:ea typeface="휴먼매직체"/>
              </a:rPr>
              <a:t>number</a:t>
            </a:r>
            <a:br>
              <a:rPr lang="en-US" altLang="ko-KR" sz="6600" b="0" cap="all" dirty="0">
                <a:ea typeface="휴먼매직체"/>
              </a:rPr>
            </a:br>
            <a:r>
              <a:rPr lang="en-US" altLang="ko-KR" sz="6600" b="0" cap="all" dirty="0">
                <a:ea typeface="휴먼매직체"/>
              </a:rPr>
              <a:t>generator</a:t>
            </a:r>
            <a:br>
              <a:rPr lang="en-US" altLang="ko-KR" sz="6600" b="0" cap="all" dirty="0">
                <a:ea typeface="휴먼매직체"/>
              </a:rPr>
            </a:br>
            <a:endParaRPr lang="en-US" altLang="ko-KR" sz="6600" b="0" kern="1200" cap="all">
              <a:ea typeface="휴먼매직체"/>
            </a:endParaRPr>
          </a:p>
        </p:txBody>
      </p:sp>
      <p:sp>
        <p:nvSpPr>
          <p:cNvPr id="59" name="Rectangle 63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7CF8D-B829-450E-9ED2-8B5A7C3FD37D}"/>
              </a:ext>
            </a:extLst>
          </p:cNvPr>
          <p:cNvSpPr txBox="1"/>
          <p:nvPr/>
        </p:nvSpPr>
        <p:spPr>
          <a:xfrm>
            <a:off x="8106937" y="1620644"/>
            <a:ext cx="2743200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 dirty="0">
                <a:ea typeface="휴먼매직체"/>
                <a:cs typeface="Malgun Gothic Semilight"/>
              </a:rPr>
              <a:t>(라)조</a:t>
            </a:r>
          </a:p>
          <a:p>
            <a:endParaRPr lang="ko-KR" altLang="en-US" sz="2400" b="1" dirty="0">
              <a:solidFill>
                <a:srgbClr val="FFFFFF"/>
              </a:solidFill>
              <a:ea typeface="휴먼매직체"/>
              <a:cs typeface="Malgun Gothic Semilight"/>
            </a:endParaRPr>
          </a:p>
          <a:p>
            <a:r>
              <a:rPr lang="ko-KR" altLang="en-US" sz="2000" b="1" dirty="0" err="1">
                <a:ea typeface="휴먼매직체"/>
                <a:cs typeface="Malgun Gothic Semilight"/>
              </a:rPr>
              <a:t>손병규</a:t>
            </a:r>
            <a:r>
              <a:rPr lang="ko-KR" altLang="en-US" sz="2000" b="1" dirty="0">
                <a:ea typeface="휴먼매직체"/>
                <a:cs typeface="Malgun Gothic Semilight"/>
              </a:rPr>
              <a:t> </a:t>
            </a:r>
          </a:p>
          <a:p>
            <a:endParaRPr lang="ko-KR" altLang="en-US" sz="2000" b="1" dirty="0">
              <a:ea typeface="휴먼매직체"/>
              <a:cs typeface="Malgun Gothic Semilight"/>
            </a:endParaRPr>
          </a:p>
          <a:p>
            <a:r>
              <a:rPr lang="ko-KR" altLang="en-US" sz="2000" b="1" dirty="0" err="1">
                <a:ea typeface="휴먼매직체"/>
                <a:cs typeface="Malgun Gothic Semilight"/>
              </a:rPr>
              <a:t>소강석</a:t>
            </a:r>
            <a:endParaRPr lang="ko-KR" altLang="en-US" sz="2000" b="1" dirty="0">
              <a:ea typeface="휴먼매직체"/>
              <a:cs typeface="Malgun Gothic Semilight"/>
            </a:endParaRPr>
          </a:p>
          <a:p>
            <a:endParaRPr lang="ko-KR" altLang="en-US" sz="2000" b="1" dirty="0">
              <a:ea typeface="휴먼매직체"/>
              <a:cs typeface="Malgun Gothic Semilight"/>
            </a:endParaRPr>
          </a:p>
          <a:p>
            <a:r>
              <a:rPr lang="ko-KR" altLang="en-US" sz="2000" b="1" dirty="0">
                <a:ea typeface="휴먼매직체"/>
                <a:cs typeface="Malgun Gothic Semilight"/>
              </a:rPr>
              <a:t>김주원 </a:t>
            </a:r>
          </a:p>
          <a:p>
            <a:endParaRPr lang="ko-KR" altLang="en-US" sz="2000" b="1" dirty="0">
              <a:ea typeface="휴먼매직체"/>
              <a:cs typeface="Malgun Gothic Semilight"/>
            </a:endParaRPr>
          </a:p>
          <a:p>
            <a:r>
              <a:rPr lang="ko-KR" altLang="en-US" sz="2000" b="1" dirty="0" err="1">
                <a:ea typeface="휴먼매직체"/>
                <a:cs typeface="Malgun Gothic Semilight"/>
              </a:rPr>
              <a:t>채예진</a:t>
            </a:r>
          </a:p>
          <a:p>
            <a:endParaRPr lang="ko-KR" altLang="en-US" sz="2000" b="1" dirty="0">
              <a:ea typeface="휴먼매직체"/>
              <a:cs typeface="Malgun Gothic Semilight"/>
            </a:endParaRPr>
          </a:p>
          <a:p>
            <a:r>
              <a:rPr lang="ko-KR" altLang="en-US" sz="2000" b="1" dirty="0">
                <a:ea typeface="휴먼매직체"/>
                <a:cs typeface="Malgun Gothic Semilight"/>
              </a:rPr>
              <a:t>신희원</a:t>
            </a:r>
          </a:p>
        </p:txBody>
      </p:sp>
    </p:spTree>
    <p:extLst>
      <p:ext uri="{BB962C8B-B14F-4D97-AF65-F5344CB8AC3E}">
        <p14:creationId xmlns:p14="http://schemas.microsoft.com/office/powerpoint/2010/main" val="1487216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D9A6F-CE34-4058-A2D2-05F64F255E9A}"/>
              </a:ext>
            </a:extLst>
          </p:cNvPr>
          <p:cNvSpPr txBox="1"/>
          <p:nvPr/>
        </p:nvSpPr>
        <p:spPr>
          <a:xfrm>
            <a:off x="274534" y="1073231"/>
            <a:ext cx="3841736" cy="471153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6000" b="1" kern="1200" cap="all" dirty="0">
                <a:solidFill>
                  <a:schemeClr val="bg1">
                    <a:lumMod val="85000"/>
                    <a:lumOff val="15000"/>
                  </a:schemeClr>
                </a:solidFill>
                <a:latin typeface="+mj-lt"/>
                <a:ea typeface="휴먼매직체"/>
                <a:cs typeface="+mj-cs"/>
              </a:rPr>
              <a:t>CONTENT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FEE959E-BF10-4204-9556-D1707088D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DD17B6A-CB37-4005-9681-A20AFCDC7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B7BBDE9-DAED-40B0-A640-503C918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01200"/>
            <a:ext cx="7498616" cy="579959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7541DC-C319-4A10-B5A0-9A0FBC6A4259}"/>
              </a:ext>
            </a:extLst>
          </p:cNvPr>
          <p:cNvSpPr txBox="1"/>
          <p:nvPr/>
        </p:nvSpPr>
        <p:spPr>
          <a:xfrm>
            <a:off x="4771226" y="914923"/>
            <a:ext cx="6541841" cy="471153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 defTabSz="457200" latinLnBrk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ko-KR" altLang="en-US" sz="2800" b="1" dirty="0">
                <a:solidFill>
                  <a:srgbClr val="FFFFFF"/>
                </a:solidFill>
                <a:latin typeface="고딕"/>
                <a:ea typeface="휴먼매직체"/>
              </a:rPr>
              <a:t>프로젝트 개요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ko-KR" altLang="en-US" sz="2800" b="1" dirty="0">
              <a:solidFill>
                <a:srgbClr val="FFFFFF"/>
              </a:solidFill>
              <a:latin typeface="고딕"/>
              <a:ea typeface="휴먼매직체"/>
            </a:endParaRPr>
          </a:p>
          <a:p>
            <a:pPr marL="285750" indent="-285750" defTabSz="457200" latinLnBrk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ko-KR" altLang="en-US" sz="2800" b="1" dirty="0">
                <a:solidFill>
                  <a:srgbClr val="FFFFFF"/>
                </a:solidFill>
                <a:latin typeface="고딕"/>
                <a:ea typeface="휴먼매직체"/>
              </a:rPr>
              <a:t>로또 번호 생성코드</a:t>
            </a:r>
            <a:endParaRPr lang="en-US" altLang="ko-KR" sz="2800" b="1" dirty="0">
              <a:solidFill>
                <a:srgbClr val="FFFFFF"/>
              </a:solidFill>
              <a:latin typeface="고딕"/>
              <a:ea typeface="휴먼매직체"/>
            </a:endParaRPr>
          </a:p>
          <a:p>
            <a:pPr marL="285750" indent="-285750" defTabSz="457200" latinLnBrk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ko-KR" altLang="en-US" sz="2800" b="1" dirty="0">
              <a:solidFill>
                <a:srgbClr val="FFFFFF"/>
              </a:solidFill>
              <a:latin typeface="고딕"/>
              <a:ea typeface="휴먼매직체"/>
            </a:endParaRPr>
          </a:p>
          <a:p>
            <a:pPr marL="285750" indent="-285750" defTabSz="457200" latinLnBrk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ko-KR" altLang="en-US" sz="2800" b="1" dirty="0">
                <a:solidFill>
                  <a:srgbClr val="FFFFFF"/>
                </a:solidFill>
                <a:latin typeface="고딕"/>
                <a:ea typeface="휴먼매직체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5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7">
            <a:extLst>
              <a:ext uri="{FF2B5EF4-FFF2-40B4-BE49-F238E27FC236}">
                <a16:creationId xmlns:a16="http://schemas.microsoft.com/office/drawing/2014/main" id="{D3772EE4-ED5E-4D3A-A306-B22CF86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9" name="Rectangle 99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1" name="Rectangle 101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3616656-8EED-427C-83A8-4F4FBD90EDCA}"/>
              </a:ext>
            </a:extLst>
          </p:cNvPr>
          <p:cNvSpPr>
            <a:spLocks noGrp="1"/>
          </p:cNvSpPr>
          <p:nvPr/>
        </p:nvSpPr>
        <p:spPr>
          <a:xfrm>
            <a:off x="671513" y="2536031"/>
            <a:ext cx="3123783" cy="3671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3400" b="1" kern="1200" cap="none" spc="1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endParaRPr lang="ko-KR" altLang="en-US" dirty="0">
              <a:solidFill>
                <a:srgbClr val="FFFFFF"/>
              </a:solidFill>
              <a:latin typeface="+mn-lt"/>
              <a:ea typeface="휴먼매직체"/>
              <a:cs typeface="Malgun Gothic Semilight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altLang="ko-KR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" name="그림 18" descr="텍스트, 화이트보드이(가) 표시된 사진&#10;&#10;자동 생성된 설명">
            <a:extLst>
              <a:ext uri="{FF2B5EF4-FFF2-40B4-BE49-F238E27FC236}">
                <a16:creationId xmlns:a16="http://schemas.microsoft.com/office/drawing/2014/main" id="{69E64DC9-7151-4FFD-BF8B-921C84C3E7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85"/>
          <a:stretch/>
        </p:blipFill>
        <p:spPr>
          <a:xfrm>
            <a:off x="4241830" y="601200"/>
            <a:ext cx="7503636" cy="55477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E6E2BC0-B26E-4FAF-B3F0-D610B7961408}"/>
              </a:ext>
            </a:extLst>
          </p:cNvPr>
          <p:cNvSpPr txBox="1"/>
          <p:nvPr/>
        </p:nvSpPr>
        <p:spPr>
          <a:xfrm>
            <a:off x="676275" y="11687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endParaRPr lang="ko-KR" altLang="en-US" dirty="0">
              <a:ea typeface="휴먼매직체"/>
              <a:cs typeface="Malgun Gothic Semiligh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0F3026-FE42-4299-B48F-2E391AB606E3}"/>
              </a:ext>
            </a:extLst>
          </p:cNvPr>
          <p:cNvSpPr txBox="1"/>
          <p:nvPr/>
        </p:nvSpPr>
        <p:spPr>
          <a:xfrm>
            <a:off x="4391025" y="127797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 dirty="0">
              <a:ea typeface="휴먼매직체"/>
              <a:cs typeface="Malgun Gothic Semiligh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EDFEFB-F93A-458F-B983-05823C930188}"/>
              </a:ext>
            </a:extLst>
          </p:cNvPr>
          <p:cNvSpPr txBox="1"/>
          <p:nvPr/>
        </p:nvSpPr>
        <p:spPr>
          <a:xfrm>
            <a:off x="4790778" y="682938"/>
            <a:ext cx="6499442" cy="44234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457200"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대체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무슨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번호를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넣어야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할까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?</a:t>
            </a:r>
          </a:p>
          <a:p>
            <a:pPr algn="ctr" defTabSz="457200">
              <a:spcBef>
                <a:spcPct val="0"/>
              </a:spcBef>
              <a:spcAft>
                <a:spcPts val="600"/>
              </a:spcAft>
            </a:pPr>
            <a:endParaRPr lang="en-US" altLang="ko-KR" sz="2800" b="1" cap="all" dirty="0">
              <a:solidFill>
                <a:schemeClr val="bg1"/>
              </a:solidFill>
              <a:latin typeface="+mj-lt"/>
              <a:ea typeface="휴먼매직체"/>
              <a:cs typeface="+mj-cs"/>
            </a:endParaRPr>
          </a:p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고민을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덜어내기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위한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코드를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 </a:t>
            </a:r>
            <a:r>
              <a:rPr lang="en-US" altLang="ko-KR" sz="2800" b="1" cap="all" dirty="0" err="1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짜보자</a:t>
            </a:r>
            <a:r>
              <a:rPr lang="en-US" altLang="ko-KR" sz="2800" b="1" cap="all" dirty="0">
                <a:solidFill>
                  <a:schemeClr val="bg1"/>
                </a:solidFill>
                <a:latin typeface="+mj-lt"/>
                <a:ea typeface="휴먼매직체"/>
                <a:cs typeface="+mj-cs"/>
              </a:rPr>
              <a:t>!</a:t>
            </a:r>
            <a:endParaRPr lang="ko-KR" altLang="en-US">
              <a:solidFill>
                <a:schemeClr val="bg1"/>
              </a:solidFill>
              <a:latin typeface="Malgun Gothic Semilight" panose="020B0502020104020203"/>
              <a:ea typeface="휴먼매직체" panose="02030504000101010101" pitchFamily="18" charset="-127"/>
              <a:cs typeface="Malgun Gothic Semilight" panose="020B05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2981074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E22E4-B306-41A6-8A44-8EE56823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35" y="293942"/>
            <a:ext cx="11029616" cy="1188720"/>
          </a:xfrm>
        </p:spPr>
        <p:txBody>
          <a:bodyPr/>
          <a:lstStyle/>
          <a:p>
            <a:br>
              <a:rPr lang="ko-KR" altLang="en-US" dirty="0">
                <a:latin typeface="고딕"/>
                <a:ea typeface="휴먼매직체"/>
              </a:rPr>
            </a:br>
            <a:br>
              <a:rPr lang="ko-KR" altLang="en-US" dirty="0">
                <a:latin typeface="고딕"/>
                <a:ea typeface="휴먼매직체"/>
              </a:rPr>
            </a:br>
            <a:br>
              <a:rPr lang="ko-KR" altLang="en-US" dirty="0">
                <a:latin typeface="고딕"/>
                <a:ea typeface="휴먼매직체"/>
              </a:rPr>
            </a:br>
            <a:r>
              <a:rPr lang="ko-KR" altLang="en-US" dirty="0">
                <a:latin typeface="고딕"/>
                <a:ea typeface="휴먼매직체"/>
              </a:rPr>
              <a:t>어떻게 확률을 높일까?</a:t>
            </a:r>
            <a:r>
              <a:rPr lang="en-US" altLang="ko-KR" dirty="0">
                <a:latin typeface="고딕"/>
                <a:ea typeface="휴먼매직체"/>
              </a:rPr>
              <a:t>(1)</a:t>
            </a:r>
            <a:endParaRPr lang="ko-KR" altLang="en-US" dirty="0">
              <a:latin typeface="고딕"/>
              <a:ea typeface="휴먼매직체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D378F-538F-409F-92DB-B0DE97569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80" y="1444119"/>
            <a:ext cx="11029615" cy="776987"/>
          </a:xfrm>
        </p:spPr>
        <p:txBody>
          <a:bodyPr/>
          <a:lstStyle/>
          <a:p>
            <a:pPr marL="305435" indent="-305435"/>
            <a:r>
              <a:rPr lang="ko-KR" altLang="en-US" b="1" dirty="0">
                <a:ea typeface="휴먼매직체"/>
                <a:cs typeface="Malgun Gothic Semilight" panose="020B0502020104020203"/>
              </a:rPr>
              <a:t>가장 많이 당첨된 번호대를 찾아보자!</a:t>
            </a:r>
          </a:p>
        </p:txBody>
      </p:sp>
      <p:pic>
        <p:nvPicPr>
          <p:cNvPr id="7" name="그림 13">
            <a:extLst>
              <a:ext uri="{FF2B5EF4-FFF2-40B4-BE49-F238E27FC236}">
                <a16:creationId xmlns:a16="http://schemas.microsoft.com/office/drawing/2014/main" id="{BF1F4B14-F00D-4C36-8AEB-941BE380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96" y="2350036"/>
            <a:ext cx="7528930" cy="4285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402932-E546-42A3-92A4-E58C67986D5E}"/>
              </a:ext>
            </a:extLst>
          </p:cNvPr>
          <p:cNvSpPr txBox="1"/>
          <p:nvPr/>
        </p:nvSpPr>
        <p:spPr>
          <a:xfrm>
            <a:off x="8233549" y="2791987"/>
            <a:ext cx="362600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고딕"/>
                <a:ea typeface="휴먼매직체"/>
                <a:cs typeface="Malgun Gothic Semilight"/>
              </a:rPr>
              <a:t>각 번호대별로 6개를 분류</a:t>
            </a:r>
            <a:endParaRPr lang="ko-KR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>
              <a:latin typeface="고딕"/>
              <a:ea typeface="휴먼매직체"/>
              <a:cs typeface="Malgun Gothic Semi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고딕"/>
                <a:ea typeface="휴먼매직체"/>
                <a:cs typeface="Malgun Gothic Semilight"/>
              </a:rPr>
              <a:t>번호대별 당첨 횟수를 점수로 환산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>
              <a:latin typeface="고딕"/>
              <a:ea typeface="휴먼매직체"/>
              <a:cs typeface="Malgun Gothic Semi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고딕"/>
                <a:ea typeface="휴먼매직체"/>
                <a:cs typeface="Malgun Gothic Semilight"/>
              </a:rPr>
              <a:t>뽑아낸 번호를 번호대에 대입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>
              <a:latin typeface="고딕"/>
              <a:ea typeface="휴먼매직체"/>
              <a:cs typeface="Malgun Gothic Semi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고딕"/>
                <a:ea typeface="휴먼매직체"/>
                <a:cs typeface="Malgun Gothic Semilight"/>
              </a:rPr>
              <a:t>점수를 산정해내어 총점 부여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>
              <a:latin typeface="고딕"/>
              <a:ea typeface="휴먼매직체"/>
              <a:cs typeface="Malgun Gothic Semi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고딕"/>
                <a:ea typeface="휴먼매직체"/>
                <a:cs typeface="Malgun Gothic Semilight"/>
              </a:rPr>
              <a:t>해당 점수로 뽑아낸 번호 평가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64AF4F2-F708-4487-8529-7717002ED8CE}"/>
              </a:ext>
            </a:extLst>
          </p:cNvPr>
          <p:cNvSpPr/>
          <p:nvPr/>
        </p:nvSpPr>
        <p:spPr>
          <a:xfrm>
            <a:off x="6947907" y="2190750"/>
            <a:ext cx="1082132" cy="46028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55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E22E4-B306-41A6-8A44-8EE56823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35" y="293942"/>
            <a:ext cx="11029616" cy="1188720"/>
          </a:xfrm>
        </p:spPr>
        <p:txBody>
          <a:bodyPr/>
          <a:lstStyle/>
          <a:p>
            <a:br>
              <a:rPr lang="ko-KR" altLang="en-US" dirty="0">
                <a:latin typeface="고딕"/>
                <a:ea typeface="휴먼매직체"/>
              </a:rPr>
            </a:br>
            <a:br>
              <a:rPr lang="ko-KR" altLang="en-US" dirty="0">
                <a:latin typeface="고딕"/>
                <a:ea typeface="휴먼매직체"/>
              </a:rPr>
            </a:br>
            <a:br>
              <a:rPr lang="ko-KR" altLang="en-US" dirty="0">
                <a:latin typeface="고딕"/>
                <a:ea typeface="휴먼매직체"/>
              </a:rPr>
            </a:br>
            <a:r>
              <a:rPr lang="ko-KR" altLang="en-US" dirty="0">
                <a:latin typeface="고딕"/>
                <a:ea typeface="휴먼매직체"/>
              </a:rPr>
              <a:t>어떻게 확률을 높일까?</a:t>
            </a:r>
            <a:r>
              <a:rPr lang="en-US" altLang="ko-KR" dirty="0">
                <a:latin typeface="고딕"/>
                <a:ea typeface="휴먼매직체"/>
              </a:rPr>
              <a:t>(2)</a:t>
            </a:r>
            <a:endParaRPr lang="ko-KR" altLang="en-US" dirty="0">
              <a:latin typeface="고딕"/>
              <a:ea typeface="휴먼매직체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D378F-538F-409F-92DB-B0DE97569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80" y="1487985"/>
            <a:ext cx="11029615" cy="776987"/>
          </a:xfrm>
        </p:spPr>
        <p:txBody>
          <a:bodyPr/>
          <a:lstStyle/>
          <a:p>
            <a:pPr marL="305435" indent="-305435"/>
            <a:r>
              <a:rPr lang="ko-KR" altLang="en-US" b="1" dirty="0">
                <a:ea typeface="휴먼매직체"/>
                <a:cs typeface="Malgun Gothic Semilight" panose="020B0502020104020203"/>
              </a:rPr>
              <a:t>최근 </a:t>
            </a:r>
            <a:r>
              <a:rPr lang="en-US" altLang="ko-KR" b="1" dirty="0">
                <a:ea typeface="휴먼매직체"/>
                <a:cs typeface="Malgun Gothic Semilight" panose="020B0502020104020203"/>
              </a:rPr>
              <a:t>10</a:t>
            </a:r>
            <a:r>
              <a:rPr lang="ko-KR" altLang="en-US" b="1" dirty="0">
                <a:ea typeface="휴먼매직체"/>
                <a:cs typeface="Malgun Gothic Semilight" panose="020B0502020104020203"/>
              </a:rPr>
              <a:t>주간 </a:t>
            </a:r>
            <a:r>
              <a:rPr lang="ko-KR" altLang="en-US" b="1" dirty="0" err="1">
                <a:ea typeface="휴먼매직체"/>
                <a:cs typeface="Malgun Gothic Semilight" panose="020B0502020104020203"/>
              </a:rPr>
              <a:t>미출현번호</a:t>
            </a:r>
            <a:r>
              <a:rPr lang="en-US" altLang="ko-KR" b="1" dirty="0">
                <a:ea typeface="휴먼매직체"/>
                <a:cs typeface="Malgun Gothic Semilight" panose="020B0502020104020203"/>
              </a:rPr>
              <a:t>!</a:t>
            </a:r>
            <a:endParaRPr lang="ko-KR" altLang="en-US" b="1" dirty="0">
              <a:ea typeface="휴먼매직체"/>
              <a:cs typeface="Malgun Gothic Semilight" panose="020B0502020104020203"/>
            </a:endParaRPr>
          </a:p>
        </p:txBody>
      </p:sp>
      <p:pic>
        <p:nvPicPr>
          <p:cNvPr id="7" name="그림 13">
            <a:extLst>
              <a:ext uri="{FF2B5EF4-FFF2-40B4-BE49-F238E27FC236}">
                <a16:creationId xmlns:a16="http://schemas.microsoft.com/office/drawing/2014/main" id="{BF1F4B14-F00D-4C36-8AEB-941BE3805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6180" y="2373590"/>
            <a:ext cx="7528930" cy="32873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402932-E546-42A3-92A4-E58C67986D5E}"/>
              </a:ext>
            </a:extLst>
          </p:cNvPr>
          <p:cNvSpPr txBox="1"/>
          <p:nvPr/>
        </p:nvSpPr>
        <p:spPr>
          <a:xfrm>
            <a:off x="8262425" y="3351235"/>
            <a:ext cx="362600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앞으로 출현확률이 높다고 생각하여 각각 </a:t>
            </a:r>
            <a:r>
              <a:rPr lang="en-US" altLang="ko-KR" dirty="0"/>
              <a:t>1 </a:t>
            </a:r>
            <a:r>
              <a:rPr lang="ko-KR" altLang="en-US" dirty="0"/>
              <a:t>점 씩 부여</a:t>
            </a:r>
            <a:endParaRPr lang="ko-KR" dirty="0"/>
          </a:p>
          <a:p>
            <a:endParaRPr lang="ko-KR" altLang="en-US" dirty="0">
              <a:latin typeface="고딕"/>
              <a:ea typeface="휴먼매직체"/>
              <a:cs typeface="Malgun Gothic Semi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고딕"/>
                <a:ea typeface="휴먼매직체"/>
                <a:cs typeface="Malgun Gothic Semilight"/>
              </a:rPr>
              <a:t>점수를 산정해내어 총점 부여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>
              <a:latin typeface="고딕"/>
              <a:ea typeface="휴먼매직체"/>
              <a:cs typeface="Malgun Gothic Semi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고딕"/>
                <a:ea typeface="휴먼매직체"/>
                <a:cs typeface="Malgun Gothic Semilight"/>
              </a:rPr>
              <a:t>해당 점수로 뽑아낸 번호 평가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64AF4F2-F708-4487-8529-7717002ED8CE}"/>
              </a:ext>
            </a:extLst>
          </p:cNvPr>
          <p:cNvSpPr/>
          <p:nvPr/>
        </p:nvSpPr>
        <p:spPr>
          <a:xfrm>
            <a:off x="2751290" y="3351235"/>
            <a:ext cx="1377948" cy="24183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772EE4-ED5E-4D3A-A306-B22CF86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080011-0EA8-449A-96A3-34809028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80" y="944752"/>
            <a:ext cx="3259016" cy="88654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번호 생성 코드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074195-4C01-43E3-AE58-03774F41E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3" y="2536031"/>
            <a:ext cx="3123783" cy="3671936"/>
          </a:xfrm>
        </p:spPr>
        <p:txBody>
          <a:bodyPr anchor="t">
            <a:normAutofit/>
          </a:bodyPr>
          <a:lstStyle/>
          <a:p>
            <a:pPr marL="305435" indent="-305435"/>
            <a:r>
              <a:rPr lang="ko-KR" altLang="en-US" dirty="0">
                <a:solidFill>
                  <a:srgbClr val="FFFFFF"/>
                </a:solidFill>
                <a:ea typeface="Malgun Gothic Semilight"/>
                <a:cs typeface="Malgun Gothic Semilight"/>
              </a:rPr>
              <a:t>난수 생성 코드 사용</a:t>
            </a:r>
            <a:endParaRPr lang="ko-KR">
              <a:ea typeface="Malgun Gothic Semilight"/>
              <a:cs typeface="Malgun Gothic Semilight" panose="020B0502020104020203"/>
            </a:endParaRPr>
          </a:p>
          <a:p>
            <a:pPr marL="305435" indent="-305435">
              <a:lnSpc>
                <a:spcPct val="113999"/>
              </a:lnSpc>
            </a:pPr>
            <a:endParaRPr lang="ko-KR" altLang="en-US" dirty="0">
              <a:solidFill>
                <a:srgbClr val="FFFFFF"/>
              </a:solidFill>
              <a:ea typeface="Malgun Gothic Semilight"/>
              <a:cs typeface="Malgun Gothic Semilight"/>
            </a:endParaRPr>
          </a:p>
          <a:p>
            <a:pPr marL="305435" indent="-305435">
              <a:lnSpc>
                <a:spcPct val="113999"/>
              </a:lnSpc>
            </a:pPr>
            <a:r>
              <a:rPr lang="ko-KR" altLang="en-US" dirty="0">
                <a:solidFill>
                  <a:srgbClr val="FFFFFF"/>
                </a:solidFill>
                <a:ea typeface="Malgun Gothic Semilight"/>
                <a:cs typeface="Malgun Gothic Semilight"/>
              </a:rPr>
              <a:t>중복 확인 및 정렬</a:t>
            </a:r>
          </a:p>
          <a:p>
            <a:pPr marL="305435" indent="-305435">
              <a:lnSpc>
                <a:spcPct val="113999"/>
              </a:lnSpc>
            </a:pPr>
            <a:endParaRPr lang="ko-KR" altLang="en-US" dirty="0">
              <a:solidFill>
                <a:srgbClr val="FFFFFF"/>
              </a:solidFill>
              <a:ea typeface="Malgun Gothic Semilight"/>
              <a:cs typeface="Malgun Gothic Semilight"/>
            </a:endParaRPr>
          </a:p>
          <a:p>
            <a:pPr marL="305435" indent="-305435">
              <a:lnSpc>
                <a:spcPct val="113999"/>
              </a:lnSpc>
            </a:pPr>
            <a:r>
              <a:rPr lang="en-US" altLang="ko-KR" dirty="0" err="1">
                <a:solidFill>
                  <a:srgbClr val="FFFFFF"/>
                </a:solidFill>
                <a:ea typeface="Malgun Gothic Semilight"/>
                <a:cs typeface="Malgun Gothic Semilight"/>
              </a:rPr>
              <a:t>원하는</a:t>
            </a:r>
            <a:r>
              <a:rPr lang="en-US" altLang="ko-KR" dirty="0">
                <a:solidFill>
                  <a:srgbClr val="FFFFFF"/>
                </a:solidFill>
                <a:ea typeface="Malgun Gothic Semilight"/>
                <a:cs typeface="Malgun Gothic Semilight"/>
              </a:rPr>
              <a:t> </a:t>
            </a:r>
            <a:r>
              <a:rPr lang="en-US" altLang="ko-KR" dirty="0" err="1">
                <a:solidFill>
                  <a:srgbClr val="FFFFFF"/>
                </a:solidFill>
                <a:ea typeface="Malgun Gothic Semilight"/>
                <a:cs typeface="Malgun Gothic Semilight"/>
              </a:rPr>
              <a:t>갯수</a:t>
            </a:r>
            <a:r>
              <a:rPr lang="en-US" altLang="ko-KR" dirty="0">
                <a:solidFill>
                  <a:srgbClr val="FFFFFF"/>
                </a:solidFill>
                <a:ea typeface="Malgun Gothic Semilight"/>
                <a:cs typeface="Malgun Gothic Semilight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ea typeface="Malgun Gothic Semilight"/>
                <a:cs typeface="Malgun Gothic Semilight"/>
              </a:rPr>
              <a:t>만큼</a:t>
            </a:r>
            <a:r>
              <a:rPr lang="en-US" altLang="ko-KR" dirty="0">
                <a:solidFill>
                  <a:srgbClr val="FFFFFF"/>
                </a:solidFill>
                <a:ea typeface="Malgun Gothic Semilight"/>
                <a:cs typeface="Malgun Gothic Semilight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ea typeface="Malgun Gothic Semilight"/>
                <a:cs typeface="Malgun Gothic Semilight"/>
              </a:rPr>
              <a:t>숫자</a:t>
            </a:r>
            <a:r>
              <a:rPr lang="en-US" altLang="ko-KR" dirty="0">
                <a:solidFill>
                  <a:srgbClr val="FFFFFF"/>
                </a:solidFill>
                <a:ea typeface="Malgun Gothic Semilight"/>
                <a:cs typeface="Malgun Gothic Semilight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ea typeface="Malgun Gothic Semilight"/>
                <a:cs typeface="Malgun Gothic Semilight"/>
              </a:rPr>
              <a:t>조합</a:t>
            </a:r>
            <a:r>
              <a:rPr lang="en-US" altLang="ko-KR" dirty="0">
                <a:solidFill>
                  <a:srgbClr val="FFFFFF"/>
                </a:solidFill>
                <a:ea typeface="Malgun Gothic Semilight"/>
                <a:cs typeface="Malgun Gothic Semilight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ea typeface="Malgun Gothic Semilight"/>
                <a:cs typeface="Malgun Gothic Semilight"/>
              </a:rPr>
              <a:t>생성</a:t>
            </a:r>
            <a:endParaRPr lang="en-US" altLang="ko-KR" dirty="0">
              <a:solidFill>
                <a:srgbClr val="FFFFFF"/>
              </a:solidFill>
              <a:ea typeface="Malgun Gothic Semilight"/>
              <a:cs typeface="Malgun Gothic Semilight"/>
            </a:endParaRPr>
          </a:p>
        </p:txBody>
      </p:sp>
      <p:pic>
        <p:nvPicPr>
          <p:cNvPr id="5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BB72AD15-CFD1-4402-815E-BAAC1B057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059" y="599178"/>
            <a:ext cx="7473175" cy="578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41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A5EC5-08D9-4CBC-B481-3E78447C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Malgun Gothic Semilight"/>
                <a:ea typeface="Malgun Gothic Semilight"/>
                <a:cs typeface="Malgun Gothic Semilight"/>
              </a:rPr>
              <a:t>                                                  점수 알고리즘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96F9B6-03A1-4B67-8664-F63E61FE4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198" y="2180496"/>
            <a:ext cx="5404639" cy="4045683"/>
          </a:xfrm>
          <a:prstGeom prst="rect">
            <a:avLst/>
          </a:prstGeom>
          <a:solidFill>
            <a:srgbClr val="FFFFFF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96E4D7C9-EE42-45D4-998A-EB77E85F8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2757" y="787438"/>
            <a:ext cx="3713134" cy="57090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FE2F3C3-E7E4-4120-A565-85646CED0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2430" y="787437"/>
            <a:ext cx="3071774" cy="4245178"/>
          </a:xfrm>
          <a:prstGeom prst="rect">
            <a:avLst/>
          </a:prstGeom>
        </p:spPr>
      </p:pic>
      <p:pic>
        <p:nvPicPr>
          <p:cNvPr id="7" name="그림 8">
            <a:extLst>
              <a:ext uri="{FF2B5EF4-FFF2-40B4-BE49-F238E27FC236}">
                <a16:creationId xmlns:a16="http://schemas.microsoft.com/office/drawing/2014/main" id="{349A8D5E-851C-49D1-9E96-8ABC73C55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881118" y="5012722"/>
            <a:ext cx="2955617" cy="1678038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1F3E2C3E-FACE-40E1-8699-C332913B2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2670" y="2180496"/>
            <a:ext cx="4338136" cy="4045683"/>
          </a:xfrm>
        </p:spPr>
        <p:txBody>
          <a:bodyPr>
            <a:normAutofit/>
          </a:bodyPr>
          <a:lstStyle/>
          <a:p>
            <a:pPr marL="305435" indent="-305435">
              <a:buClr>
                <a:srgbClr val="DD962D"/>
              </a:buClr>
            </a:pPr>
            <a:r>
              <a:rPr lang="ko-KR" altLang="en-US" dirty="0" err="1">
                <a:ea typeface="Malgun Gothic Semilight"/>
                <a:cs typeface="Malgun Gothic Semilight"/>
              </a:rPr>
              <a:t>Lotto</a:t>
            </a:r>
            <a:r>
              <a:rPr lang="ko-KR" altLang="en-US" dirty="0">
                <a:ea typeface="Malgun Gothic Semilight"/>
                <a:cs typeface="Malgun Gothic Semilight"/>
              </a:rPr>
              <a:t> 배열을 </a:t>
            </a:r>
            <a:r>
              <a:rPr lang="ko-KR" altLang="en-US" dirty="0" err="1">
                <a:ea typeface="Malgun Gothic Semilight"/>
                <a:cs typeface="Malgun Gothic Semilight"/>
              </a:rPr>
              <a:t>받아옴</a:t>
            </a:r>
            <a:endParaRPr lang="ko-KR" altLang="en-US" dirty="0">
              <a:ea typeface="Malgun Gothic Semilight"/>
              <a:cs typeface="Malgun Gothic Semilight"/>
            </a:endParaRPr>
          </a:p>
          <a:p>
            <a:pPr marL="305435" indent="-305435">
              <a:buClr>
                <a:srgbClr val="DD962D"/>
              </a:buClr>
            </a:pPr>
            <a:r>
              <a:rPr lang="ko-KR" altLang="en-US" dirty="0">
                <a:ea typeface="Malgun Gothic Semilight"/>
                <a:cs typeface="Malgun Gothic Semilight"/>
              </a:rPr>
              <a:t>당첨횟수가 높은 번호에 높은 점수 부여</a:t>
            </a:r>
            <a:endParaRPr lang="en-US" altLang="ko-KR" dirty="0">
              <a:ea typeface="Malgun Gothic Semilight"/>
              <a:cs typeface="Malgun Gothic Semilight"/>
            </a:endParaRPr>
          </a:p>
          <a:p>
            <a:pPr marL="305435" indent="-305435">
              <a:buClr>
                <a:srgbClr val="DD962D"/>
              </a:buClr>
            </a:pPr>
            <a:r>
              <a:rPr lang="ko-KR" altLang="en-US" dirty="0" err="1">
                <a:ea typeface="Malgun Gothic Semilight"/>
                <a:cs typeface="Malgun Gothic Semilight"/>
              </a:rPr>
              <a:t>미출현</a:t>
            </a:r>
            <a:r>
              <a:rPr lang="ko-KR" altLang="en-US" dirty="0">
                <a:ea typeface="Malgun Gothic Semilight"/>
                <a:cs typeface="Malgun Gothic Semilight"/>
              </a:rPr>
              <a:t> 번호에 </a:t>
            </a:r>
            <a:r>
              <a:rPr lang="en-US" altLang="ko-KR" dirty="0">
                <a:ea typeface="Malgun Gothic Semilight"/>
                <a:cs typeface="Malgun Gothic Semilight"/>
              </a:rPr>
              <a:t>+</a:t>
            </a:r>
            <a:r>
              <a:rPr lang="ko-KR" altLang="en-US" dirty="0">
                <a:ea typeface="Malgun Gothic Semilight"/>
                <a:cs typeface="Malgun Gothic Semilight"/>
              </a:rPr>
              <a:t>점수 부여</a:t>
            </a:r>
          </a:p>
          <a:p>
            <a:pPr marL="305435" indent="-305435">
              <a:buClr>
                <a:srgbClr val="DD962D"/>
              </a:buClr>
            </a:pPr>
            <a:r>
              <a:rPr lang="ko-KR" altLang="en-US" dirty="0">
                <a:ea typeface="Malgun Gothic Semilight"/>
                <a:cs typeface="Malgun Gothic Semilight"/>
              </a:rPr>
              <a:t>해당 결과 값 산출</a:t>
            </a:r>
          </a:p>
        </p:txBody>
      </p:sp>
    </p:spTree>
    <p:extLst>
      <p:ext uri="{BB962C8B-B14F-4D97-AF65-F5344CB8AC3E}">
        <p14:creationId xmlns:p14="http://schemas.microsoft.com/office/powerpoint/2010/main" val="76727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74B649-9354-4D6E-96C1-F45D441C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altLang="ko-KR" sz="6600" cap="all" dirty="0" err="1">
                <a:solidFill>
                  <a:srgbClr val="FFFFFF"/>
                </a:solidFill>
                <a:ea typeface="휴먼매직체"/>
              </a:rPr>
              <a:t>감사합니다</a:t>
            </a:r>
            <a:endParaRPr lang="en-US" altLang="ko-KR" sz="6600" kern="1200" cap="all" dirty="0" err="1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4848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Malgun Gothic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Malgun Gothic Semi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145</Words>
  <Application>Microsoft Office PowerPoint</Application>
  <PresentationFormat>와이드스크린</PresentationFormat>
  <Paragraphs>51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 Semilight</vt:lpstr>
      <vt:lpstr>고딕</vt:lpstr>
      <vt:lpstr>Malgun Gothic</vt:lpstr>
      <vt:lpstr>Arial</vt:lpstr>
      <vt:lpstr>Wingdings 2</vt:lpstr>
      <vt:lpstr>DividendVTI</vt:lpstr>
      <vt:lpstr>Lotto number generator </vt:lpstr>
      <vt:lpstr>PowerPoint 프레젠테이션</vt:lpstr>
      <vt:lpstr>PowerPoint 프레젠테이션</vt:lpstr>
      <vt:lpstr>   어떻게 확률을 높일까?(1)</vt:lpstr>
      <vt:lpstr>   어떻게 확률을 높일까?(2)</vt:lpstr>
      <vt:lpstr>번호 생성 코드</vt:lpstr>
      <vt:lpstr>                                                  점수 알고리즘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YeJin Chae</dc:creator>
  <cp:lastModifiedBy>Chae YeJin</cp:lastModifiedBy>
  <cp:revision>341</cp:revision>
  <dcterms:created xsi:type="dcterms:W3CDTF">2021-08-25T05:04:15Z</dcterms:created>
  <dcterms:modified xsi:type="dcterms:W3CDTF">2022-02-15T08:26:52Z</dcterms:modified>
</cp:coreProperties>
</file>